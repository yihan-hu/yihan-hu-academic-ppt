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placeholders. Keep the full deep-plum cover and the official logo; no decorative network graphic.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source-backed text, and avoid redundant caveats.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Verify denominators, location, coverage, study dates, assay, and outcome definitions from the manuscript.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intentionally empty placeholders, never copied from the ALS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values only. Preserve effect type, CI or CrI, correct unit and denominators.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marks and labels. All illustrative values are placeholders.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concise takeaways; no study-specific numerical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04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i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66344"/>
            <a:ext cx="1627632" cy="6781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" y="1682496"/>
            <a:ext cx="9144000" cy="82296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Your research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2569464"/>
            <a:ext cx="9144000" cy="54864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2200" b="0">
                <a:solidFill>
                  <a:srgbClr val="FFFFFF"/>
                </a:solidFill>
                <a:latin typeface="Aptos"/>
              </a:defRPr>
            </a:pPr>
            <a:r>
              <a:t>A concise scientific subtitle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3685032"/>
            <a:ext cx="274320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7315200" cy="38404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Author(s)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25696"/>
            <a:ext cx="7315200" cy="31089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Karolinska Institutet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292608"/>
            <a:ext cx="54864" cy="237744"/>
          </a:xfrm>
          <a:prstGeom prst="rect">
            <a:avLst/>
          </a:prstGeom>
          <a:solidFill>
            <a:srgbClr val="870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56032"/>
            <a:ext cx="6400800" cy="27432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000" b="1">
                <a:solidFill>
                  <a:srgbClr val="870052"/>
                </a:solidFill>
                <a:latin typeface="Aptos"/>
              </a:defRPr>
            </a:pPr>
            <a: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256032"/>
            <a:ext cx="749808" cy="24688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 algn="r">
              <a:defRPr sz="1000" b="0">
                <a:solidFill>
                  <a:srgbClr val="736A73"/>
                </a:solidFill>
                <a:latin typeface="Aptos"/>
              </a:defRPr>
            </a:pPr>
            <a:r>
              <a:t>02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86384"/>
            <a:ext cx="10881360" cy="58521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2800" b="1">
                <a:solidFill>
                  <a:srgbClr val="302330"/>
                </a:solidFill>
                <a:latin typeface="Aptos"/>
              </a:defRPr>
            </a:pPr>
            <a:r>
              <a:t>Previous evidence and research objective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" y="1819656"/>
            <a:ext cx="914400" cy="22860"/>
          </a:xfrm>
          <a:prstGeom prst="rect">
            <a:avLst/>
          </a:prstGeom>
          <a:solidFill>
            <a:srgbClr val="870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18488" y="1828800"/>
            <a:ext cx="9921240" cy="8229"/>
          </a:xfrm>
          <a:prstGeom prst="rect">
            <a:avLst/>
          </a:prstGeom>
          <a:solidFill>
            <a:srgbClr val="E7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" y="6446520"/>
            <a:ext cx="10899648" cy="8229"/>
          </a:xfrm>
          <a:prstGeom prst="rect">
            <a:avLst/>
          </a:prstGeom>
          <a:solidFill>
            <a:srgbClr val="E7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510528"/>
            <a:ext cx="5943600" cy="20116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800" b="0">
                <a:solidFill>
                  <a:srgbClr val="736A73"/>
                </a:solidFill>
                <a:latin typeface="Aptos"/>
              </a:defRPr>
            </a:pPr>
            <a:r>
              <a:t>Karolinska Institutet  |  Academic PPT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03120"/>
            <a:ext cx="5212080" cy="2194560"/>
          </a:xfrm>
          <a:prstGeom prst="rect">
            <a:avLst/>
          </a:prstGeom>
          <a:solidFill>
            <a:srgbClr val="F7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2103120"/>
            <a:ext cx="5266944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77440"/>
            <a:ext cx="4663440" cy="29260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100" b="1">
                <a:solidFill>
                  <a:srgbClr val="870052"/>
                </a:solidFill>
                <a:latin typeface="Aptos"/>
              </a:defRPr>
            </a:pPr>
            <a:r>
              <a:t>PREVIOUS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2"/>
            <a:ext cx="4663440" cy="50292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2200" b="1">
                <a:solidFill>
                  <a:srgbClr val="302330"/>
                </a:solidFill>
                <a:latin typeface="Aptos"/>
              </a:defRPr>
            </a:pPr>
            <a:r>
              <a:t>Published finding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83864"/>
            <a:ext cx="4663440" cy="54864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500" b="0">
                <a:solidFill>
                  <a:srgbClr val="302A30"/>
                </a:solidFill>
                <a:latin typeface="Aptos"/>
              </a:defRPr>
            </a:pPr>
            <a:r>
              <a:t>Summarize prior findings with a reference.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77440"/>
            <a:ext cx="4663440" cy="29260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100" b="1">
                <a:solidFill>
                  <a:srgbClr val="870052"/>
                </a:solidFill>
                <a:latin typeface="Aptos"/>
              </a:defRPr>
            </a:pPr>
            <a:r>
              <a:t>CURRENT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816352"/>
            <a:ext cx="4663440" cy="50292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2200" b="1">
                <a:solidFill>
                  <a:srgbClr val="302330"/>
                </a:solidFill>
                <a:latin typeface="Aptos"/>
              </a:defRPr>
            </a:pPr>
            <a:r>
              <a:t>Study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483864"/>
            <a:ext cx="4663440" cy="54864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500" b="0">
                <a:solidFill>
                  <a:srgbClr val="302A30"/>
                </a:solidFill>
                <a:latin typeface="Aptos"/>
              </a:defRPr>
            </a:pPr>
            <a:r>
              <a:t>Explain the methodological advance.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640080" cy="36576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2200" b="1">
                <a:solidFill>
                  <a:srgbClr val="87005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919472"/>
            <a:ext cx="2971800" cy="40233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600" b="1">
                <a:solidFill>
                  <a:srgbClr val="302330"/>
                </a:solidFill>
                <a:latin typeface="Aptos"/>
              </a:defRPr>
            </a:pPr>
            <a:r>
              <a:t>Primary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4892040"/>
            <a:ext cx="640080" cy="36576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2200" b="1">
                <a:solidFill>
                  <a:srgbClr val="87005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919472"/>
            <a:ext cx="2971800" cy="40233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600" b="1">
                <a:solidFill>
                  <a:srgbClr val="302330"/>
                </a:solidFill>
                <a:latin typeface="Aptos"/>
              </a:defRPr>
            </a:pPr>
            <a:r>
              <a:t>Secondary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892040"/>
            <a:ext cx="640080" cy="36576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2200" b="1">
                <a:solidFill>
                  <a:srgbClr val="87005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919472"/>
            <a:ext cx="2971800" cy="40233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600" b="1">
                <a:solidFill>
                  <a:srgbClr val="302330"/>
                </a:solidFill>
                <a:latin typeface="Aptos"/>
              </a:defRPr>
            </a:pPr>
            <a:r>
              <a:t>Clinical implications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292608"/>
            <a:ext cx="54864" cy="237744"/>
          </a:xfrm>
          <a:prstGeom prst="rect">
            <a:avLst/>
          </a:prstGeom>
          <a:solidFill>
            <a:srgbClr val="870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56032"/>
            <a:ext cx="6400800" cy="27432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000" b="1">
                <a:solidFill>
                  <a:srgbClr val="870052"/>
                </a:solidFill>
                <a:latin typeface="Aptos"/>
              </a:defRPr>
            </a:pPr>
            <a: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256032"/>
            <a:ext cx="749808" cy="24688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 algn="r">
              <a:defRPr sz="1000" b="0">
                <a:solidFill>
                  <a:srgbClr val="736A73"/>
                </a:solidFill>
                <a:latin typeface="Aptos"/>
              </a:defRPr>
            </a:pPr>
            <a:r>
              <a:t>03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86384"/>
            <a:ext cx="10881360" cy="58521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2800" b="1">
                <a:solidFill>
                  <a:srgbClr val="302330"/>
                </a:solidFill>
                <a:latin typeface="Aptos"/>
              </a:defRPr>
            </a:pPr>
            <a:r>
              <a:t>Study population and measurements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389888"/>
            <a:ext cx="10607040" cy="32004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200" b="0">
                <a:solidFill>
                  <a:srgbClr val="736A73"/>
                </a:solidFill>
                <a:latin typeface="Aptos"/>
              </a:defRPr>
            </a:pPr>
            <a:r>
              <a:t>Study region  /  enrollment period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" y="1819656"/>
            <a:ext cx="914400" cy="22860"/>
          </a:xfrm>
          <a:prstGeom prst="rect">
            <a:avLst/>
          </a:prstGeom>
          <a:solidFill>
            <a:srgbClr val="870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18488" y="1828800"/>
            <a:ext cx="9921240" cy="8229"/>
          </a:xfrm>
          <a:prstGeom prst="rect">
            <a:avLst/>
          </a:prstGeom>
          <a:solidFill>
            <a:srgbClr val="E7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" y="6446520"/>
            <a:ext cx="10899648" cy="8229"/>
          </a:xfrm>
          <a:prstGeom prst="rect">
            <a:avLst/>
          </a:prstGeom>
          <a:solidFill>
            <a:srgbClr val="E7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6510528"/>
            <a:ext cx="5943600" cy="20116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800" b="0">
                <a:solidFill>
                  <a:srgbClr val="736A73"/>
                </a:solidFill>
                <a:latin typeface="Aptos"/>
              </a:defRPr>
            </a:pPr>
            <a:r>
              <a:t>Karolinska Institutet  |  Academic PPT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" y="2148840"/>
            <a:ext cx="5166360" cy="1271016"/>
          </a:xfrm>
          <a:prstGeom prst="rect">
            <a:avLst/>
          </a:prstGeom>
          <a:solidFill>
            <a:srgbClr val="F7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2148840"/>
            <a:ext cx="5230368" cy="1271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350008"/>
            <a:ext cx="1508760" cy="56692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3800" b="1">
                <a:solidFill>
                  <a:srgbClr val="4F0433"/>
                </a:solidFill>
                <a:latin typeface="Aptos"/>
              </a:defRPr>
            </a:pPr>
            <a:r>
              <a:t>N1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2340864"/>
            <a:ext cx="3108960" cy="40233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2000" b="1">
                <a:solidFill>
                  <a:srgbClr val="302330"/>
                </a:solidFill>
                <a:latin typeface="Aptos"/>
              </a:defRPr>
            </a:pPr>
            <a:r>
              <a:t>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944368"/>
            <a:ext cx="4663440" cy="29260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200" b="0">
                <a:solidFill>
                  <a:srgbClr val="736A73"/>
                </a:solidFill>
                <a:latin typeface="Aptos"/>
              </a:defRPr>
            </a:pPr>
            <a:r>
              <a:t>Eligibility / definition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350008"/>
            <a:ext cx="1508760" cy="56692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3800" b="1">
                <a:solidFill>
                  <a:srgbClr val="4F0433"/>
                </a:solidFill>
                <a:latin typeface="Aptos"/>
              </a:defRPr>
            </a:pPr>
            <a:r>
              <a:t>N2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340864"/>
            <a:ext cx="3108960" cy="40233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2000" b="1">
                <a:solidFill>
                  <a:srgbClr val="302330"/>
                </a:solidFill>
                <a:latin typeface="Aptos"/>
              </a:defRPr>
            </a:pPr>
            <a:r>
              <a:t>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944368"/>
            <a:ext cx="4663440" cy="29260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200" b="0">
                <a:solidFill>
                  <a:srgbClr val="736A73"/>
                </a:solidFill>
                <a:latin typeface="Aptos"/>
              </a:defRPr>
            </a:pPr>
            <a:r>
              <a:t>Comparator groups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" y="3822191"/>
            <a:ext cx="548640" cy="29260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200" b="1">
                <a:solidFill>
                  <a:srgbClr val="87005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" y="4178808"/>
            <a:ext cx="3474720" cy="35661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900" b="1">
                <a:solidFill>
                  <a:srgbClr val="302330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4681728"/>
            <a:ext cx="3383280" cy="45720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200" b="0">
                <a:solidFill>
                  <a:srgbClr val="736A73"/>
                </a:solidFill>
                <a:latin typeface="Aptos"/>
              </a:defRPr>
            </a:pPr>
            <a:r>
              <a:t>Population and catchment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3822191"/>
            <a:ext cx="548640" cy="29260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200" b="1">
                <a:solidFill>
                  <a:srgbClr val="87005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178808"/>
            <a:ext cx="3474720" cy="35661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900" b="1">
                <a:solidFill>
                  <a:srgbClr val="302330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681728"/>
            <a:ext cx="3383280" cy="45720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200" b="0">
                <a:solidFill>
                  <a:srgbClr val="736A73"/>
                </a:solidFill>
                <a:latin typeface="Aptos"/>
              </a:defRPr>
            </a:pPr>
            <a:r>
              <a:t>Exposure and assay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3822191"/>
            <a:ext cx="548640" cy="29260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200" b="1">
                <a:solidFill>
                  <a:srgbClr val="87005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4178808"/>
            <a:ext cx="3474720" cy="35661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900" b="1">
                <a:solidFill>
                  <a:srgbClr val="302330"/>
                </a:solidFill>
                <a:latin typeface="Aptos"/>
              </a:defRPr>
            </a:pPr>
            <a:r>
              <a:t>Follow-up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4681728"/>
            <a:ext cx="3383280" cy="45720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200" b="0">
                <a:solidFill>
                  <a:srgbClr val="736A73"/>
                </a:solidFill>
                <a:latin typeface="Aptos"/>
              </a:defRPr>
            </a:pPr>
            <a:r>
              <a:t>Outcomes and follow-up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292608"/>
            <a:ext cx="54864" cy="237744"/>
          </a:xfrm>
          <a:prstGeom prst="rect">
            <a:avLst/>
          </a:prstGeom>
          <a:solidFill>
            <a:srgbClr val="870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56032"/>
            <a:ext cx="6400800" cy="27432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000" b="1">
                <a:solidFill>
                  <a:srgbClr val="870052"/>
                </a:solidFill>
                <a:latin typeface="Aptos"/>
              </a:defRPr>
            </a:pPr>
            <a: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256032"/>
            <a:ext cx="749808" cy="24688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 algn="r">
              <a:defRPr sz="1000" b="0">
                <a:solidFill>
                  <a:srgbClr val="736A73"/>
                </a:solidFill>
                <a:latin typeface="Aptos"/>
              </a:defRPr>
            </a:pPr>
            <a:r>
              <a:t>04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86384"/>
            <a:ext cx="10881360" cy="58521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2800" b="1">
                <a:solidFill>
                  <a:srgbClr val="302330"/>
                </a:solidFill>
                <a:latin typeface="Aptos"/>
              </a:defRPr>
            </a:pPr>
            <a:r>
              <a:t>Selected baseline characteristics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" y="1819656"/>
            <a:ext cx="914400" cy="22860"/>
          </a:xfrm>
          <a:prstGeom prst="rect">
            <a:avLst/>
          </a:prstGeom>
          <a:solidFill>
            <a:srgbClr val="870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18488" y="1828800"/>
            <a:ext cx="9921240" cy="8229"/>
          </a:xfrm>
          <a:prstGeom prst="rect">
            <a:avLst/>
          </a:prstGeom>
          <a:solidFill>
            <a:srgbClr val="E7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" y="6446520"/>
            <a:ext cx="10899648" cy="8229"/>
          </a:xfrm>
          <a:prstGeom prst="rect">
            <a:avLst/>
          </a:prstGeom>
          <a:solidFill>
            <a:srgbClr val="E7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510528"/>
            <a:ext cx="5943600" cy="20116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800" b="0">
                <a:solidFill>
                  <a:srgbClr val="736A73"/>
                </a:solidFill>
                <a:latin typeface="Aptos"/>
              </a:defRPr>
            </a:pPr>
            <a:r>
              <a:t>Karolinska Institutet  |  Academic PPT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03120"/>
            <a:ext cx="10753344" cy="512064"/>
          </a:xfrm>
          <a:prstGeom prst="rect">
            <a:avLst/>
          </a:prstGeom>
          <a:solidFill>
            <a:srgbClr val="F7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221992"/>
            <a:ext cx="5029200" cy="27432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300" b="1">
                <a:solidFill>
                  <a:srgbClr val="302330"/>
                </a:solidFill>
                <a:latin typeface="Aptos"/>
              </a:defRPr>
            </a:pPr>
            <a:r>
              <a:t>Characteristic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8152" y="2221992"/>
            <a:ext cx="2743200" cy="27432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300" b="1">
                <a:solidFill>
                  <a:srgbClr val="302330"/>
                </a:solidFill>
                <a:latin typeface="Aptos"/>
              </a:defRPr>
            </a:pPr>
            <a:r>
              <a:t>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221992"/>
            <a:ext cx="2743200" cy="27432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300" b="1">
                <a:solidFill>
                  <a:srgbClr val="302330"/>
                </a:solidFill>
                <a:latin typeface="Aptos"/>
              </a:defRPr>
            </a:pPr>
            <a:r>
              <a:t>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825496"/>
            <a:ext cx="4754880" cy="31089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400" b="0">
                <a:solidFill>
                  <a:srgbClr val="302A30"/>
                </a:solidFill>
                <a:latin typeface="Aptos"/>
              </a:defRPr>
            </a:pPr>
            <a:r>
              <a:t>Age, mean (SD)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8152" y="2825496"/>
            <a:ext cx="2377440" cy="31089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400" b="0">
                <a:solidFill>
                  <a:srgbClr val="736A73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825496"/>
            <a:ext cx="2377440" cy="31089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400" b="0">
                <a:solidFill>
                  <a:srgbClr val="736A73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438144"/>
            <a:ext cx="10753344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493008"/>
            <a:ext cx="4754880" cy="31089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400" b="0">
                <a:solidFill>
                  <a:srgbClr val="302A30"/>
                </a:solidFill>
                <a:latin typeface="Aptos"/>
              </a:defRPr>
            </a:pPr>
            <a:r>
              <a:t>Female, n (%)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8152" y="3493008"/>
            <a:ext cx="2377440" cy="31089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400" b="0">
                <a:solidFill>
                  <a:srgbClr val="736A73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493008"/>
            <a:ext cx="2377440" cy="31089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400" b="0">
                <a:solidFill>
                  <a:srgbClr val="736A73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4160520"/>
            <a:ext cx="4754880" cy="31089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400" b="0">
                <a:solidFill>
                  <a:srgbClr val="302A30"/>
                </a:solidFill>
                <a:latin typeface="Aptos"/>
              </a:defRPr>
            </a:pPr>
            <a:r>
              <a:t>Clinical feature, n (%)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88152" y="4160520"/>
            <a:ext cx="2377440" cy="31089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400" b="0">
                <a:solidFill>
                  <a:srgbClr val="736A73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160520"/>
            <a:ext cx="2377440" cy="31089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400" b="0">
                <a:solidFill>
                  <a:srgbClr val="736A73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773168"/>
            <a:ext cx="10753344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4828031"/>
            <a:ext cx="4754880" cy="31089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400" b="0">
                <a:solidFill>
                  <a:srgbClr val="302A30"/>
                </a:solidFill>
                <a:latin typeface="Aptos"/>
              </a:defRPr>
            </a:pPr>
            <a:r>
              <a:t>Follow-up, median (IQR)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88152" y="4828031"/>
            <a:ext cx="2377440" cy="31089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400" b="0">
                <a:solidFill>
                  <a:srgbClr val="736A73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828031"/>
            <a:ext cx="2377440" cy="31089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400" b="0">
                <a:solidFill>
                  <a:srgbClr val="736A73"/>
                </a:solidFill>
                <a:latin typeface="Aptos"/>
              </a:defRPr>
            </a:pPr>
            <a:r>
              <a:t>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292608"/>
            <a:ext cx="54864" cy="237744"/>
          </a:xfrm>
          <a:prstGeom prst="rect">
            <a:avLst/>
          </a:prstGeom>
          <a:solidFill>
            <a:srgbClr val="870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56032"/>
            <a:ext cx="6400800" cy="27432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000" b="1">
                <a:solidFill>
                  <a:srgbClr val="870052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256032"/>
            <a:ext cx="749808" cy="24688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 algn="r">
              <a:defRPr sz="1000" b="0">
                <a:solidFill>
                  <a:srgbClr val="736A73"/>
                </a:solidFill>
                <a:latin typeface="Aptos"/>
              </a:defRPr>
            </a:pPr>
            <a:r>
              <a:t>05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86384"/>
            <a:ext cx="10881360" cy="58521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2800" b="1">
                <a:solidFill>
                  <a:srgbClr val="302330"/>
                </a:solidFill>
                <a:latin typeface="Aptos"/>
              </a:defRPr>
            </a:pPr>
            <a:r>
              <a:t>Main effect estimate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389888"/>
            <a:ext cx="10607040" cy="32004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200" b="0">
                <a:solidFill>
                  <a:srgbClr val="736A73"/>
                </a:solidFill>
                <a:latin typeface="Aptos"/>
              </a:defRPr>
            </a:pPr>
            <a:r>
              <a:t>Replace illustrative numbers with verified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" y="1819656"/>
            <a:ext cx="914400" cy="22860"/>
          </a:xfrm>
          <a:prstGeom prst="rect">
            <a:avLst/>
          </a:prstGeom>
          <a:solidFill>
            <a:srgbClr val="870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18488" y="1828800"/>
            <a:ext cx="9921240" cy="8229"/>
          </a:xfrm>
          <a:prstGeom prst="rect">
            <a:avLst/>
          </a:prstGeom>
          <a:solidFill>
            <a:srgbClr val="E7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" y="6446520"/>
            <a:ext cx="10899648" cy="8229"/>
          </a:xfrm>
          <a:prstGeom prst="rect">
            <a:avLst/>
          </a:prstGeom>
          <a:solidFill>
            <a:srgbClr val="E7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6510528"/>
            <a:ext cx="5943600" cy="20116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800" b="0">
                <a:solidFill>
                  <a:srgbClr val="736A73"/>
                </a:solidFill>
                <a:latin typeface="Aptos"/>
              </a:defRPr>
            </a:pPr>
            <a:r>
              <a:t>Karolinska Institutet  |  Academic PPT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" y="2148840"/>
            <a:ext cx="5138928" cy="3200400"/>
          </a:xfrm>
          <a:prstGeom prst="rect">
            <a:avLst/>
          </a:prstGeom>
          <a:solidFill>
            <a:srgbClr val="F7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59736"/>
            <a:ext cx="4572000" cy="29260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100" b="1">
                <a:solidFill>
                  <a:srgbClr val="870052"/>
                </a:solidFill>
                <a:latin typeface="Aptos"/>
              </a:defRPr>
            </a:pPr>
            <a:r>
              <a:t>PRIMARY ESTIMATE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62072"/>
            <a:ext cx="4572000" cy="93268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4600" b="1">
                <a:solidFill>
                  <a:srgbClr val="4F0433"/>
                </a:solidFill>
                <a:latin typeface="Aptos"/>
              </a:defRPr>
            </a:pPr>
            <a:r>
              <a:t>1.00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77639"/>
            <a:ext cx="4663440" cy="41148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900" b="1">
                <a:solidFill>
                  <a:srgbClr val="302330"/>
                </a:solidFill>
                <a:latin typeface="Aptos"/>
              </a:defRPr>
            </a:pPr>
            <a:r>
              <a:t>95% CI 0.80–1.20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727448"/>
            <a:ext cx="4617720" cy="36576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400" b="0">
                <a:solidFill>
                  <a:srgbClr val="302A30"/>
                </a:solidFill>
                <a:latin typeface="Aptos"/>
              </a:defRPr>
            </a:pPr>
            <a:r>
              <a:t>Contrast / unit of exposure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459736"/>
            <a:ext cx="4663440" cy="29260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100" b="1">
                <a:solidFill>
                  <a:srgbClr val="870052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926080"/>
            <a:ext cx="4754880" cy="1335024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2300" b="1">
                <a:solidFill>
                  <a:srgbClr val="302330"/>
                </a:solidFill>
                <a:latin typeface="Aptos"/>
              </a:defRPr>
            </a:pPr>
            <a:r>
              <a:t>One sentence summarizing the main estimate.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292608"/>
            <a:ext cx="54864" cy="237744"/>
          </a:xfrm>
          <a:prstGeom prst="rect">
            <a:avLst/>
          </a:prstGeom>
          <a:solidFill>
            <a:srgbClr val="870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56032"/>
            <a:ext cx="6400800" cy="27432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000" b="1">
                <a:solidFill>
                  <a:srgbClr val="870052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256032"/>
            <a:ext cx="749808" cy="24688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 algn="r">
              <a:defRPr sz="1000" b="0">
                <a:solidFill>
                  <a:srgbClr val="736A73"/>
                </a:solidFill>
                <a:latin typeface="Aptos"/>
              </a:defRPr>
            </a:pPr>
            <a:r>
              <a:t>06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86384"/>
            <a:ext cx="10881360" cy="58521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2800" b="1">
                <a:solidFill>
                  <a:srgbClr val="302330"/>
                </a:solidFill>
                <a:latin typeface="Aptos"/>
              </a:defRPr>
            </a:pPr>
            <a:r>
              <a:t>Associations across 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389888"/>
            <a:ext cx="10607040" cy="32004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200" b="0">
                <a:solidFill>
                  <a:srgbClr val="736A73"/>
                </a:solidFill>
                <a:latin typeface="Aptos"/>
              </a:defRPr>
            </a:pPr>
            <a:r>
              <a:t>Editable forest plot with illustrative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" y="1819656"/>
            <a:ext cx="914400" cy="22860"/>
          </a:xfrm>
          <a:prstGeom prst="rect">
            <a:avLst/>
          </a:prstGeom>
          <a:solidFill>
            <a:srgbClr val="870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18488" y="1828800"/>
            <a:ext cx="9921240" cy="8229"/>
          </a:xfrm>
          <a:prstGeom prst="rect">
            <a:avLst/>
          </a:prstGeom>
          <a:solidFill>
            <a:srgbClr val="E7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" y="6446520"/>
            <a:ext cx="10899648" cy="8229"/>
          </a:xfrm>
          <a:prstGeom prst="rect">
            <a:avLst/>
          </a:prstGeom>
          <a:solidFill>
            <a:srgbClr val="E7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6510528"/>
            <a:ext cx="5943600" cy="20116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800" b="0">
                <a:solidFill>
                  <a:srgbClr val="736A73"/>
                </a:solidFill>
                <a:latin typeface="Aptos"/>
              </a:defRPr>
            </a:pPr>
            <a:r>
              <a:t>Karolinska Institutet  |  Academic PPT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" y="2103120"/>
            <a:ext cx="10744200" cy="502920"/>
          </a:xfrm>
          <a:prstGeom prst="rect">
            <a:avLst/>
          </a:prstGeom>
          <a:solidFill>
            <a:srgbClr val="F7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231136"/>
            <a:ext cx="4114800" cy="27432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100" b="1">
                <a:solidFill>
                  <a:srgbClr val="870052"/>
                </a:solidFill>
                <a:latin typeface="Aptos"/>
              </a:defRPr>
            </a:pPr>
            <a:r>
              <a:t>SUBGROUP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31136"/>
            <a:ext cx="2880360" cy="27432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100" b="1">
                <a:solidFill>
                  <a:srgbClr val="870052"/>
                </a:solidFill>
                <a:latin typeface="Aptos"/>
              </a:defRPr>
            </a:pPr>
            <a:r>
              <a:t>EFFECT (95% CI)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834640"/>
            <a:ext cx="3657600" cy="29260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400" b="0">
                <a:solidFill>
                  <a:srgbClr val="302A30"/>
                </a:solidFill>
                <a:latin typeface="Aptos"/>
              </a:defRPr>
            </a:pPr>
            <a:r>
              <a:t>Subgroup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8978" y="2953512"/>
            <a:ext cx="1255013" cy="22860"/>
          </a:xfrm>
          <a:prstGeom prst="rect">
            <a:avLst/>
          </a:prstGeom>
          <a:solidFill>
            <a:srgbClr val="73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67044" y="2898648"/>
            <a:ext cx="137160" cy="137160"/>
          </a:xfrm>
          <a:prstGeom prst="ellipse">
            <a:avLst/>
          </a:prstGeom>
          <a:solidFill>
            <a:srgbClr val="870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834640"/>
            <a:ext cx="2834640" cy="29260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300" b="0">
                <a:solidFill>
                  <a:srgbClr val="302A30"/>
                </a:solidFill>
                <a:latin typeface="Aptos"/>
              </a:defRPr>
            </a:pPr>
            <a:r>
              <a:t>1.10 (0.81–1.42)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429000"/>
            <a:ext cx="3657600" cy="29260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400" b="0">
                <a:solidFill>
                  <a:srgbClr val="302A30"/>
                </a:solidFill>
                <a:latin typeface="Aptos"/>
              </a:defRPr>
            </a:pPr>
            <a:r>
              <a:t>Subgroup 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12664" y="3547872"/>
            <a:ext cx="1131569" cy="22860"/>
          </a:xfrm>
          <a:prstGeom prst="rect">
            <a:avLst/>
          </a:prstGeom>
          <a:solidFill>
            <a:srgbClr val="73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37860" y="3493008"/>
            <a:ext cx="137160" cy="137160"/>
          </a:xfrm>
          <a:prstGeom prst="ellipse">
            <a:avLst/>
          </a:prstGeom>
          <a:solidFill>
            <a:srgbClr val="870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429000"/>
            <a:ext cx="2834640" cy="29260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300" b="0">
                <a:solidFill>
                  <a:srgbClr val="302A30"/>
                </a:solidFill>
                <a:latin typeface="Aptos"/>
              </a:defRPr>
            </a:pPr>
            <a:r>
              <a:t>0.94 (0.70–1.25)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023360"/>
            <a:ext cx="3657600" cy="29260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400" b="0">
                <a:solidFill>
                  <a:srgbClr val="302A30"/>
                </a:solidFill>
                <a:latin typeface="Aptos"/>
              </a:defRPr>
            </a:pPr>
            <a:r>
              <a:t>Subgroup 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06440" y="4142232"/>
            <a:ext cx="1213865" cy="22860"/>
          </a:xfrm>
          <a:prstGeom prst="rect">
            <a:avLst/>
          </a:prstGeom>
          <a:solidFill>
            <a:srgbClr val="73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52209" y="4087368"/>
            <a:ext cx="137160" cy="137160"/>
          </a:xfrm>
          <a:prstGeom prst="ellipse">
            <a:avLst/>
          </a:prstGeom>
          <a:solidFill>
            <a:srgbClr val="870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023360"/>
            <a:ext cx="2834640" cy="29260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300" b="0">
                <a:solidFill>
                  <a:srgbClr val="302A30"/>
                </a:solidFill>
                <a:latin typeface="Aptos"/>
              </a:defRPr>
            </a:pPr>
            <a:r>
              <a:t>1.19 (0.94–1.53)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617720"/>
            <a:ext cx="3657600" cy="29260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400" b="0">
                <a:solidFill>
                  <a:srgbClr val="302A30"/>
                </a:solidFill>
                <a:latin typeface="Aptos"/>
              </a:defRPr>
            </a:pPr>
            <a:r>
              <a:t>Subgroup 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56682" y="4736592"/>
            <a:ext cx="1234440" cy="22860"/>
          </a:xfrm>
          <a:prstGeom prst="rect">
            <a:avLst/>
          </a:prstGeom>
          <a:solidFill>
            <a:srgbClr val="73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02452" y="4681728"/>
            <a:ext cx="137160" cy="137160"/>
          </a:xfrm>
          <a:prstGeom prst="ellipse">
            <a:avLst/>
          </a:prstGeom>
          <a:solidFill>
            <a:srgbClr val="870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617720"/>
            <a:ext cx="2834640" cy="29260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300" b="0">
                <a:solidFill>
                  <a:srgbClr val="302A30"/>
                </a:solidFill>
                <a:latin typeface="Aptos"/>
              </a:defRPr>
            </a:pPr>
            <a:r>
              <a:t>1.02 (0.77–1.37)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852160"/>
            <a:ext cx="10058400" cy="33832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100" b="0">
                <a:solidFill>
                  <a:srgbClr val="736A73"/>
                </a:solidFill>
                <a:latin typeface="Aptos"/>
              </a:defRPr>
            </a:pPr>
            <a:r>
              <a:t>Reference = 1.0; replace effect values and rescale for each study.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292608"/>
            <a:ext cx="54864" cy="237744"/>
          </a:xfrm>
          <a:prstGeom prst="rect">
            <a:avLst/>
          </a:prstGeom>
          <a:solidFill>
            <a:srgbClr val="870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56032"/>
            <a:ext cx="6400800" cy="27432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000" b="1">
                <a:solidFill>
                  <a:srgbClr val="870052"/>
                </a:solidFill>
                <a:latin typeface="Aptos"/>
              </a:defRPr>
            </a:pPr>
            <a: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256032"/>
            <a:ext cx="749808" cy="24688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 algn="r">
              <a:defRPr sz="1000" b="0">
                <a:solidFill>
                  <a:srgbClr val="736A73"/>
                </a:solidFill>
                <a:latin typeface="Aptos"/>
              </a:defRPr>
            </a:pPr>
            <a:r>
              <a:t>07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86384"/>
            <a:ext cx="10881360" cy="585216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2800" b="1">
                <a:solidFill>
                  <a:srgbClr val="302330"/>
                </a:solidFill>
                <a:latin typeface="Aptos"/>
              </a:defRPr>
            </a:pPr>
            <a:r>
              <a:t>Take-home messages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" y="1819656"/>
            <a:ext cx="914400" cy="22860"/>
          </a:xfrm>
          <a:prstGeom prst="rect">
            <a:avLst/>
          </a:prstGeom>
          <a:solidFill>
            <a:srgbClr val="870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18488" y="1828800"/>
            <a:ext cx="9921240" cy="8229"/>
          </a:xfrm>
          <a:prstGeom prst="rect">
            <a:avLst/>
          </a:prstGeom>
          <a:solidFill>
            <a:srgbClr val="E7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" y="6446520"/>
            <a:ext cx="10899648" cy="8229"/>
          </a:xfrm>
          <a:prstGeom prst="rect">
            <a:avLst/>
          </a:prstGeom>
          <a:solidFill>
            <a:srgbClr val="E7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6510528"/>
            <a:ext cx="5943600" cy="201168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800" b="0">
                <a:solidFill>
                  <a:srgbClr val="736A73"/>
                </a:solidFill>
                <a:latin typeface="Aptos"/>
              </a:defRPr>
            </a:pPr>
            <a:r>
              <a:t>Karolinska Institutet  |  Academic PPT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841248" cy="438912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2500" b="1">
                <a:solidFill>
                  <a:srgbClr val="87005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377440"/>
            <a:ext cx="8887968" cy="484632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2000" b="1">
                <a:solidFill>
                  <a:srgbClr val="302330"/>
                </a:solidFill>
                <a:latin typeface="Aptos"/>
              </a:defRPr>
            </a:pPr>
            <a:r>
              <a:t>Primary conclusion in one sentence.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3163824"/>
            <a:ext cx="8961120" cy="7315"/>
          </a:xfrm>
          <a:prstGeom prst="rect">
            <a:avLst/>
          </a:prstGeom>
          <a:solidFill>
            <a:srgbClr val="E7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456432"/>
            <a:ext cx="841248" cy="438912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2500" b="1">
                <a:solidFill>
                  <a:srgbClr val="87005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3456432"/>
            <a:ext cx="8887968" cy="484632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2000" b="1">
                <a:solidFill>
                  <a:srgbClr val="302330"/>
                </a:solidFill>
                <a:latin typeface="Aptos"/>
              </a:defRPr>
            </a:pPr>
            <a:r>
              <a:t>Secondary conclusion in one sentence.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48840" y="4242816"/>
            <a:ext cx="8961120" cy="7315"/>
          </a:xfrm>
          <a:prstGeom prst="rect">
            <a:avLst/>
          </a:prstGeom>
          <a:solidFill>
            <a:srgbClr val="E7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35424"/>
            <a:ext cx="841248" cy="438912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2500" b="1">
                <a:solidFill>
                  <a:srgbClr val="87005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4535424"/>
            <a:ext cx="8887968" cy="484632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2000" b="1">
                <a:solidFill>
                  <a:srgbClr val="302330"/>
                </a:solidFill>
                <a:latin typeface="Aptos"/>
              </a:defRPr>
            </a:pPr>
            <a:r>
              <a:t>Implication or next scientific question.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5925312"/>
            <a:ext cx="5486400" cy="411480"/>
          </a:xfrm>
          <a:prstGeom prst="rect">
            <a:avLst/>
          </a:prstGeom>
          <a:noFill/>
        </p:spPr>
        <p:txBody>
          <a:bodyPr wrap="square" lIns="9144" tIns="9144" rIns="9144">
            <a:spAutoFit/>
          </a:bodyPr>
          <a:lstStyle/>
          <a:p>
            <a:pPr>
              <a:defRPr sz="1900" b="1">
                <a:solidFill>
                  <a:srgbClr val="302330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